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24B63"/>
                </a:solidFill>
              </a:defRPr>
            </a:pPr>
            <a:r>
              <a:t>Umubyeyi</a:t>
            </a:r>
          </a:p>
          <a:p>
            <a:pPr algn="ctr">
              <a:defRPr sz="2400">
                <a:solidFill>
                  <a:srgbClr val="302A32"/>
                </a:solidFill>
              </a:defRPr>
            </a:pPr>
            <a:r>
              <a:t>A bilingual first-time-mother emotional-well-being assistant</a:t>
            </a:r>
          </a:p>
          <a:p>
            <a:pPr algn="ctr">
              <a:defRPr sz="1600">
                <a:solidFill>
                  <a:srgbClr val="716874"/>
                </a:solidFill>
              </a:defRPr>
            </a:pPr>
            <a:r>
              <a:t>Raissa Irutingabo • Mission Capstone Defense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302A32"/>
                </a:solidFill>
              </a:defRPr>
            </a:pPr>
            <a: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Introduction</a:t>
            </a:r>
          </a:p>
          <a:p>
            <a:pPr lvl="1">
              <a:spcAft>
                <a:spcPts val="600"/>
              </a:spcAft>
              <a:defRPr sz="1600">
                <a:solidFill>
                  <a:srgbClr val="716874"/>
                </a:solidFill>
              </a:defRPr>
            </a:pPr>
            <a:r>
              <a:t>Problem and intended user</a:t>
            </a:r>
          </a:p>
          <a:p>
            <a:pPr lvl="1">
              <a:spcAft>
                <a:spcPts val="600"/>
              </a:spcAft>
              <a:defRPr sz="1600">
                <a:solidFill>
                  <a:srgbClr val="716874"/>
                </a:solidFill>
              </a:defRPr>
            </a:pPr>
            <a:r>
              <a:t>Literature synthesis and gap</a:t>
            </a:r>
          </a:p>
          <a:p>
            <a:pPr lvl="1">
              <a:spcAft>
                <a:spcPts val="600"/>
              </a:spcAft>
              <a:defRPr sz="1600">
                <a:solidFill>
                  <a:srgbClr val="716874"/>
                </a:solidFill>
              </a:defRPr>
            </a:pPr>
            <a:r>
              <a:t>Objectives and strict scope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Data</a:t>
            </a:r>
          </a:p>
          <a:p>
            <a:pPr lvl="1">
              <a:spcAft>
                <a:spcPts val="600"/>
              </a:spcAft>
              <a:defRPr sz="1600">
                <a:solidFill>
                  <a:srgbClr val="716874"/>
                </a:solidFill>
              </a:defRPr>
            </a:pPr>
            <a:r>
              <a:t>Dataset and target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Methodology</a:t>
            </a:r>
          </a:p>
          <a:p>
            <a:pPr lvl="1">
              <a:spcAft>
                <a:spcPts val="600"/>
              </a:spcAft>
              <a:defRPr sz="1600">
                <a:solidFill>
                  <a:srgbClr val="716874"/>
                </a:solidFill>
              </a:defRPr>
            </a:pPr>
            <a:r>
              <a:t>Model selection and full-model results</a:t>
            </a:r>
          </a:p>
          <a:p>
            <a:pPr lvl="1">
              <a:spcAft>
                <a:spcPts val="600"/>
              </a:spcAft>
              <a:defRPr sz="1600">
                <a:solidFill>
                  <a:srgbClr val="716874"/>
                </a:solidFill>
              </a:defRPr>
            </a:pPr>
            <a:r>
              <a:t>Practical guided check-in</a:t>
            </a:r>
          </a:p>
          <a:p>
            <a:pPr lvl="1">
              <a:spcAft>
                <a:spcPts val="600"/>
              </a:spcAft>
              <a:defRPr sz="1600">
                <a:solidFill>
                  <a:srgbClr val="716874"/>
                </a:solidFill>
              </a:defRPr>
            </a:pPr>
            <a:r>
              <a:t>Current system architecture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Training and Testing Evidence</a:t>
            </a:r>
          </a:p>
          <a:p>
            <a:pPr lvl="1">
              <a:spcAft>
                <a:spcPts val="600"/>
              </a:spcAft>
              <a:defRPr sz="1600">
                <a:solidFill>
                  <a:srgbClr val="716874"/>
                </a:solidFill>
              </a:defRPr>
            </a:pPr>
            <a:r>
              <a:t>Functional and testing evidence</a:t>
            </a:r>
          </a:p>
          <a:p>
            <a:pPr lvl="1">
              <a:spcAft>
                <a:spcPts val="600"/>
              </a:spcAft>
              <a:defRPr sz="1600">
                <a:solidFill>
                  <a:srgbClr val="716874"/>
                </a:solidFill>
              </a:defRPr>
            </a:pPr>
            <a:r>
              <a:t>What was trained—and what was not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Results and Discussion</a:t>
            </a:r>
          </a:p>
          <a:p>
            <a:pPr lvl="1">
              <a:spcAft>
                <a:spcPts val="600"/>
              </a:spcAft>
              <a:defRPr sz="1600">
                <a:solidFill>
                  <a:srgbClr val="716874"/>
                </a:solidFill>
              </a:defRPr>
            </a:pPr>
            <a:r>
              <a:t>Results, limitations and real-world validity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Conclusions</a:t>
            </a:r>
          </a:p>
          <a:p>
            <a:pPr lvl="1">
              <a:spcAft>
                <a:spcPts val="600"/>
              </a:spcAft>
              <a:defRPr sz="1600">
                <a:solidFill>
                  <a:srgbClr val="716874"/>
                </a:solidFill>
              </a:defRPr>
            </a:pPr>
            <a:r>
              <a:t>Recommendations and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302A32"/>
                </a:solidFill>
              </a:defRPr>
            </a:pPr>
            <a:r>
              <a:t>1. Problem and intended 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The first months after childbirth can involve sadness, anxiety, guilt, isolation and exhaustion.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Kinyarwanda-speaking mothers have limited access to culturally reviewed digital support.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The assistant must support the mother while refusing diagnosis, emergency care and unrelated requests.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Mission: accessible bilingual support with transparent evidence and human referral boundaries.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302A32"/>
                </a:solidFill>
              </a:defRPr>
            </a:pPr>
            <a:r>
              <a:t>2. Literature synthesis and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Maternal chatbots mostly emphasize pregnancy, clinical tracking, or English-speaking populations.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African-language performance and reviewed Kinyarwanda resources remain limited.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Generative flexibility creates risk when health responses are unsupported.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Gap: bilingual postpartum emotional support combining screening research, evidence grounding and deterministic safety.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302A32"/>
                </a:solidFill>
              </a:defRPr>
            </a:pPr>
            <a:r>
              <a:t>3. Objectives and strict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Train and compare seven classifiers on licensed postpartum participant data.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Build a practical reduced-input, non-diagnostic guided check-in.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Support reformulated English and Kinyarwanda emotional messages through retrieval by similarity.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Place crisis, acute-health, baby-care and unrelated-topic rules before generation.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Evaluate with held-out metrics, automated tests, benchmarks and transparent limitations.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302A32"/>
                </a:solidFill>
              </a:defRPr>
            </a:pPr>
            <a:r>
              <a:t>4. Dataset and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548640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800 postpartum participants from Bangladesh • 70 source columns • CC BY 4.0.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Target: EPDS High = elevated; Low/Medium = not elevated (350 vs 450).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Concurrent EPDS/PHQ questions, totals and derived labels excluded to prevent leakage.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46 retained predictors • stratified 560/120/120 split • seed 42.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Limitation: not Rwanda-specific, not first-time-only, and up to 24 months postpartum.</a:t>
            </a:r>
          </a:p>
        </p:txBody>
      </p:sp>
      <p:pic>
        <p:nvPicPr>
          <p:cNvPr id="4" name="Picture 3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08760"/>
            <a:ext cx="5257800" cy="34721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302A32"/>
                </a:solidFill>
              </a:defRPr>
            </a:pPr>
            <a:r>
              <a:t>5. Methodology and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548640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Numeric: median imputation + standardisation.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Categorical: most-frequent imputation + one-hot encoding.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Seven candidates: Dummy, LR, Tree, RF, Extra Trees, SVM and KNN.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Winner selected using validation F1 for the elevated class.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Only the selected configuration evaluated on untouched test data.</a:t>
            </a:r>
          </a:p>
        </p:txBody>
      </p:sp>
      <p:pic>
        <p:nvPicPr>
          <p:cNvPr id="4" name="Picture 3" descr="05_validation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08760"/>
            <a:ext cx="5257800" cy="25932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302A32"/>
                </a:solidFill>
              </a:defRPr>
            </a:pPr>
            <a:r>
              <a:t>6. Full-model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548640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Random Forest selected • 46 predictors.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Accuracy 0.8083 • Precision 0.7679.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Recall 0.8113 • F1 0.7890.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43/53 elevated cases detected; 10 missed; 13 false alerts.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Held-out performance is screening research, not diagnosis.</a:t>
            </a:r>
          </a:p>
        </p:txBody>
      </p:sp>
      <p:pic>
        <p:nvPicPr>
          <p:cNvPr id="4" name="Picture 3" descr="06_selected_model_tes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08760"/>
            <a:ext cx="5257800" cy="43313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302A32"/>
                </a:solidFill>
              </a:defRPr>
            </a:pPr>
            <a:r>
              <a:t>7. Practical guided check-in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548640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Same seven algorithm families compared using 15 understandable inputs.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Logistic Regression selected by validation F1.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Accuracy 0.7667 • Precision 0.7049.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Recall 0.8113 • F1 0.7544.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Same recall as the full model, with more false alerts but much lower input burden.</a:t>
            </a:r>
          </a:p>
        </p:txBody>
      </p:sp>
      <p:pic>
        <p:nvPicPr>
          <p:cNvPr id="4" name="Picture 3" descr="06_selected_model_tes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08760"/>
            <a:ext cx="5257800" cy="43313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302A32"/>
                </a:solidFill>
              </a:defRPr>
            </a:pPr>
            <a:r>
              <a:t>8. Current system architecture</a:t>
            </a:r>
          </a:p>
        </p:txBody>
      </p:sp>
      <p:pic>
        <p:nvPicPr>
          <p:cNvPr id="3" name="Picture 2" descr="system_architecture_lay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201400" cy="62660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302A32"/>
                </a:solidFill>
              </a:defRPr>
            </a:pPr>
            <a:r>
              <a:t>9. Functional and testing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548640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67 automated tests: unit, boundary, invalid-input, offline, HTTP, safety and evaluation integrity.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Layered results: classifiers, question matching, generation quality, safety routing and latency.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Trained six-class bilingual intent classifier: English Top-1 74.44%, Top-3 97.78%; Kinyarwanda Top-1 42.22%, Top-3 72.22% (90 controlled cases per language).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English retrieval: Top-1 64.29%, Top-3 92.86% on 14 controlled paraphrases.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Controlled RW retrieval and safety routing reached 100%; neither is real-user validation.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Production Next.js build passes.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All cases and metrics are retained as JSON for audit and reproduction.</a:t>
            </a:r>
          </a:p>
        </p:txBody>
      </p:sp>
      <p:pic>
        <p:nvPicPr>
          <p:cNvPr id="4" name="Picture 3" descr="layered_evalua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08760"/>
            <a:ext cx="5257800" cy="33496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302A32"/>
                </a:solidFill>
              </a:defRPr>
            </a:pPr>
            <a:r>
              <a:t>10. What was trained—and what was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548640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Trained here: two screening experiments, bilingual intent classification, and two LoRA generators.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Built here: preprocessing, retrieval, safety policy, grounded Gemini integration, OOP services and interface.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mT5-small LoRA (deployed): 344,064 parameters updated; validation loss 4.36 to 4.18 over 3 epochs.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flan-T5-small LoRA (comparison only, not deployed): same LoRA config; validation loss 2.95 to 2.92.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Held-out ESConv cases (100): ROUGE-L 0.000 to 0.115 (mT5-small), 0.103 to 0.142 (flan-T5-small).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7,795 real ESConv conversation examples used; AMOD returned 0 rows this run (HF gated-license fetch).</a:t>
            </a:r>
          </a:p>
          <a:p>
            <a:pPr>
              <a:spcAft>
                <a:spcPts val="1500"/>
              </a:spcAft>
              <a:defRPr sz="1800">
                <a:solidFill>
                  <a:srgbClr val="302A32"/>
                </a:solidFill>
              </a:defRPr>
            </a:pPr>
            <a:r>
              <a:t>Gemini is externally hosted and not claimed as project fine-tuning.</a:t>
            </a:r>
          </a:p>
        </p:txBody>
      </p:sp>
      <p:pic>
        <p:nvPicPr>
          <p:cNvPr id="4" name="Picture 3" descr="generator_training_and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08760"/>
            <a:ext cx="5257800" cy="19417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302A32"/>
                </a:solidFill>
              </a:defRPr>
            </a:pPr>
            <a:r>
              <a:t>11. Results, limitations and real-world validity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Technically functioning prototype with held-out model evaluation and reproducible evidence.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No clinical diagnosis, calibration or validation for Rwanda is claimed.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Both fine-tuned generators are English-only; Kinyarwanda always routes to grounded Gemini or retrieval.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If Gemini is absent, times out or fails validation, the RW source passage is returned.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Intent Top-1 74.44% (English) still exposes ambiguity; Top-3 reaches 97.78%.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No formal field study with postpartum mothers has yet been completed.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Safety rules and retrieval reduce risk but do not replace professional support.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302A32"/>
                </a:solidFill>
              </a:defRPr>
            </a:pPr>
            <a:r>
              <a:t>12. Recommendations and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Collect Rwanda-specific data through an ethically approved study.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Conduct native-speaker, health-professional and usability review.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Compare multilingual semantic embeddings with character TF-IDF.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Evaluate calibration, fairness, false-negative risk and resource usage.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Create a larger reviewed bilingual corpus for a stronger second fine-tuning experiment.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Impact: a transparent foundation for safe, locally operated maternal-support research.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302A32"/>
                </a:solidFill>
              </a:defRPr>
            </a:pPr>
            <a:r>
              <a:t>Thank you —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6874"/>
                </a:solidFill>
              </a:defRPr>
            </a:pPr>
            <a:r>
              <a:t>Umubyeyi • support the mother • stay within evidence • refer when uncertain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Core distinction: screening prediction and emotional-support conversation are separate tasks.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Key result: strong recall with transparent limitations and safe referral boundaries.</a:t>
            </a:r>
          </a:p>
          <a:p>
            <a:pPr>
              <a:spcAft>
                <a:spcPts val="1500"/>
              </a:spcAft>
              <a:defRPr sz="2000">
                <a:solidFill>
                  <a:srgbClr val="302A32"/>
                </a:solidFill>
              </a:defRPr>
            </a:pPr>
            <a:r>
              <a:t>Live demonstration: trained topic selection • grounded Gemini • mT5 fallback • check-in • safety.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