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9B8BC4"/>
                </a:solidFill>
                <a:latin typeface="Calibri"/>
              </a:rPr>
              <a:t>BSc Software Engineering Capstone — Progress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Umubyeyi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Calibri"/>
              </a:rPr>
              <a:t>A Kinyarwanda-Language AI Chatbot for Maternal Mental Wellness in the Postpartum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Raissa Irutingabo  ·  African Leadership University</a:t>
            </a:r>
          </a:p>
          <a:p>
            <a:r>
              <a:rPr sz="1500" b="0" i="0">
                <a:solidFill>
                  <a:srgbClr val="9B8BC4"/>
                </a:solidFill>
                <a:latin typeface="Calibri"/>
              </a:rPr>
              <a:t>Supervisor: Samiratu Ntohsi</a:t>
            </a:r>
          </a:p>
          <a:p>
            <a:r>
              <a:rPr sz="1500" b="0" i="0">
                <a:solidFill>
                  <a:srgbClr val="55576B"/>
                </a:solidFill>
                <a:latin typeface="Calibri"/>
              </a:rPr>
              <a:t>Progress presentation —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058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Introduction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The Need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Data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55576B"/>
                </a:solidFill>
                <a:latin typeface="Calibri"/>
              </a:rPr>
              <a:t>    –  Training corpus, framing dataset, response templates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Data Preprocessing &amp; Exploration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The Approach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55576B"/>
                </a:solidFill>
                <a:latin typeface="Calibri"/>
              </a:rPr>
              <a:t>    –  System pipeline + the model ladder (floor → embeddings → transformer)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Results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55576B"/>
                </a:solidFill>
                <a:latin typeface="Calibri"/>
              </a:rPr>
              <a:t>    –  Baseline &amp; the cross-lingual degradation finding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Discussion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Conclusions &amp; Next 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What is Umubyeyi?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6751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A browser-based chatbot that talks to first-time Rwandan mothers in Kinyarwanda about their mental wellbeing.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Scope: the 0–6 month postpartum window — when low mood, anxiety and feeling overwhelmed peak.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Informational and supportive — never diagnostic. Every reply carries a disclaimer and a safety pathway.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Template-based, not generative: each intent maps to one guideline-sourced, human-reviewed response template (avoids LLM hallucination).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Designed for low-resource deployment — classical ML, no GPU at inference, runs on Streamlit Community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920240"/>
            <a:ext cx="4114800" cy="402336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214884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E76F51"/>
                </a:solidFill>
                <a:latin typeface="Calibri"/>
              </a:rPr>
              <a:t>In one sentence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2B2D42"/>
                </a:solidFill>
                <a:latin typeface="Calibri"/>
              </a:rPr>
              <a:t>“Meet mothers in their own language, route them to safe, expert-validated guidance, and measure exactly what translation costs us along the way.”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THE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05156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Perinatal mental-health conditions are common and under-served in sub-Saharan Africa, yet rarely screened in routine postpartum care.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First-time mothers face the steepest adjustment, often in isolation and without a safe, private place to ask questions.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Language is the barrier: almost all digital maternal-health tools are English-only.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Kinyarwanda is severely under-resourced in NLP — no public mental-wellness intent dataset exists.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Existing maternal-health chatbots are English-only and physical-health focused, and name translation as an unsolved limitation.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0515600" cy="64008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3035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The gap = Kinyarwanda  ×  mental wellness  ×  Rwanda  —  exactly where Umubyeyi sits.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Two data sources, two distinct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611880" cy="402336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3611880" cy="50292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56232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TRAINING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6888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Amod counseling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246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3,512 rows of real therapist Q&amp;A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995 unique questions (heavy duplication)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Filtered to maternal-relevant subset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Labeled into 6 wellness intents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3611880" cy="402336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611880" cy="50292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56232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RESPONSE 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46888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WHO / UNFPA guidance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154680"/>
            <a:ext cx="3246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Tier-1 global authorities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Source of every user-facing answer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Pre-translated + human-reviewed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6 response templates (1 per intent)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DATA PREPROCESSING &amp;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What the data told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Deduplication finding: 3,512 rows collapse to 995 unique questions — 2,517 are the same question answered by different counselors.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Consequence: split on unique questions (GroupShuffleSplit) to avoid leakage and inflated accuracy.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Intents are imbalanced — relationship/support dominates, self-care is scarce.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    –  This is why we report F1, not just accuracy.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Cleaning: scope filtering, lowercasing, TF-IDF features.</a:t>
            </a:r>
          </a:p>
        </p:txBody>
      </p:sp>
      <p:pic>
        <p:nvPicPr>
          <p:cNvPr id="8" name="Picture 7" descr="02_intent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20240"/>
            <a:ext cx="548640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489204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576B"/>
                </a:solidFill>
                <a:latin typeface="Calibri"/>
              </a:rPr>
              <a:t>Intent coverage across the maternal subset (class imbalance)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THE APPROACH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The system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b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10972800" cy="2589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886200"/>
            <a:ext cx="109728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Kinyarwanda in → NLLB-200 translates to English → TF-IDF + ML classifier assigns 1 of 6 intents → return that intent's response template → translate back → display the Kinyarwanda response with a disclaimer.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Two safety gates: (1) confidence gate — low-confidence inputs fall back to general self-care; (2) danger-sign keywords bypass everything → Rwanda helpline escalation.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Deployment MVP built: architecture diagram, web mockup, a Streamlit app and a FastAPI sketch (Swagger UI for testing).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THE APPROACH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The model ladder: floor → embeddings → transformer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1">
                <a:solidFill>
                  <a:srgbClr val="55576B"/>
                </a:solidFill>
                <a:latin typeface="Calibri"/>
              </a:rPr>
              <a:t>Three classifiers on the SAME labels and SAME 80/20 split — each adds exactly one idea and must beat the one below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11155680" cy="114300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777240" cy="1143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7772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40280"/>
            <a:ext cx="6766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TF-IDF + Logistic Regression   (English)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FLOOR — simple, fast, interpretable; the currently deployed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48840"/>
            <a:ext cx="31546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1A9988"/>
                </a:solidFill>
                <a:latin typeface="Calibri"/>
              </a:rPr>
              <a:t>Done · 0.61 acc / 0.60 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56432"/>
            <a:ext cx="11155680" cy="114300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56432"/>
            <a:ext cx="777240" cy="1143000"/>
          </a:xfrm>
          <a:prstGeom prst="rect">
            <a:avLst/>
          </a:prstGeom>
          <a:solidFill>
            <a:srgbClr val="9B8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56432"/>
            <a:ext cx="7772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47872"/>
            <a:ext cx="6766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FastText cc.rw.300 + MLP   (Kinyarwanda)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EMBEDDINGS — dense subword vectors capture meaning + Kinyarwanda morphology / out-of-vocabulary words.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456432"/>
            <a:ext cx="31546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9B8BC4"/>
                </a:solidFill>
                <a:latin typeface="Calibri"/>
              </a:rPr>
              <a:t>Coded · pending 4.5 GB vectors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64024"/>
            <a:ext cx="11155680" cy="114300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764024"/>
            <a:ext cx="777240" cy="11430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64024"/>
            <a:ext cx="7772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855464"/>
            <a:ext cx="6766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AfroXLMR fine-tune   (Kinyarwanda)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CEILING — contextual transformer pretrained on Kinyarwanda; classifies directly, no translate-then-classify hop.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764024"/>
            <a:ext cx="31546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Coded · pending GPU 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Baseline — the floor model (Model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seline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852160" cy="48377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666586"/>
            <a:ext cx="5852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576B"/>
                </a:solidFill>
                <a:latin typeface="Calibri"/>
              </a:rPr>
              <a:t>Confusion matrix — TF-IDF + Logistic Regression, 6 intents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783080"/>
            <a:ext cx="4983480" cy="416052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965960"/>
            <a:ext cx="45720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E76F51"/>
                </a:solidFill>
                <a:latin typeface="Calibri"/>
              </a:rPr>
              <a:t>Floor model — established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Accuracy: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0.61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F1: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0.60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Precision: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0.63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Recall: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0.59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E76F51"/>
                </a:solidFill>
                <a:latin typeface="Calibri"/>
              </a:rPr>
              <a:t>Reading the matrix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•  Strong on relationship/support &amp; sleep (clear cues).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•  Confusion: overwhelmed ↔ relationship &amp; sadness — overlapping language, the hard intents.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•  F1 &lt; accuracy → the minority intents are where the work is.</a:t>
            </a:r>
          </a:p>
          <a:p>
            <a:pPr>
              <a:spcBef>
                <a:spcPts val="1200"/>
              </a:spcBef>
            </a:pPr>
            <a:r>
              <a:rPr sz="1100" b="0" i="1">
                <a:solidFill>
                  <a:srgbClr val="55576B"/>
                </a:solidFill>
                <a:latin typeface="Calibri"/>
              </a:rPr>
              <a:t>Honest INITIAL baseline. Models 2 &amp; 3 (FastText, AfroXLMR) are coded and pending compute.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The core scientific contribution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4008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Central research question: how much accuracy do we lose to translation?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Method: classify the English test set directly vs. after an EN→Kinyarwanda→EN round-trip through NLLB-200 — the gap is the degradation coefficient.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This would be the first published Kinyarwanda mental-wellness classification benchmark.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40233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E76F51"/>
                </a:solidFill>
                <a:latin typeface="Calibri"/>
              </a:rPr>
              <a:t>Live demo finding</a:t>
            </a:r>
          </a:p>
          <a:p>
            <a:pPr>
              <a:spcBef>
                <a:spcPts val="800"/>
              </a:spcBef>
            </a:pPr>
            <a:r>
              <a:rPr sz="1200" b="1" i="0">
                <a:solidFill>
                  <a:srgbClr val="9B8BC4"/>
                </a:solidFill>
                <a:latin typeface="Calibri"/>
              </a:rPr>
              <a:t>Input (Kinyarwanda):</a:t>
            </a:r>
          </a:p>
          <a:p>
            <a:r>
              <a:rPr sz="1300" b="0" i="1">
                <a:solidFill>
                  <a:srgbClr val="FFFFFF"/>
                </a:solidFill>
                <a:latin typeface="Calibri"/>
              </a:rPr>
              <a:t>“umugabo wanjye ntamfasha”  (my husband does NOT help me)</a:t>
            </a:r>
          </a:p>
          <a:p>
            <a:pPr>
              <a:spcBef>
                <a:spcPts val="800"/>
              </a:spcBef>
            </a:pPr>
            <a:r>
              <a:rPr sz="1200" b="1" i="0">
                <a:solidFill>
                  <a:srgbClr val="9B8BC4"/>
                </a:solidFill>
                <a:latin typeface="Calibri"/>
              </a:rPr>
              <a:t>NLLB dropped the negation →</a:t>
            </a:r>
          </a:p>
          <a:p>
            <a:r>
              <a:rPr sz="1300" b="0" i="1">
                <a:solidFill>
                  <a:srgbClr val="FFFFFF"/>
                </a:solidFill>
                <a:latin typeface="Calibri"/>
              </a:rPr>
              <a:t>“my husband is helping me”  — meaning inverted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Confidence fell to 0.31 → the safety gate caught it → safe fallback. Live proof of both the risk AND the mitigation.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0789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Translation hallucination is the real risk — not classifier accuracy. Dropped negations can invert meaning.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The two-gate design (calibrated confidence + danger-sign override) turns that risk into a controlled, safe fallback rather than a wrong answer.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Open finding: the proposed fixed 0.40 confidence threshold abstains ~88% of the time — it needs empirical tuning, not assumption.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“Strong ML” here = rigor + a genuinely novel measurement, not model size. Classical models are the right call for low-resource deployment.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Conclusions &amp;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A9988"/>
                </a:solidFill>
                <a:latin typeface="Calibri"/>
              </a:rPr>
              <a:t>Where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End-to-end Kinyarwanda pipeline works (NLLB + classifier + response templates + safety).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Floor baseline established: 0.61 acc / 0.60 F1 (Model 1).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Principled model ladder designed; embedding + transformer arms coded.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Translation-risk demonstrated live, and contained by the safety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916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76F51"/>
                </a:solidFill>
                <a:latin typeface="Calibri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03120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Measure the cross-lingual degradation coefficient.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AfroXLMR fine-tune as a comparison arm.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Future: build a true evidence-sourced retrieval KB (beyond the 6 templates).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SUS usability study with 10 proxy users (target &gt; 70).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49240"/>
            <a:ext cx="11155680" cy="59436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9496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Contribution: the first Kinyarwanda maternal mental-wellness classifier + a quantified benchmark of what translation costs.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Murakoze —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 i="0">
                <a:solidFill>
                  <a:srgbClr val="9B8BC4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55576B"/>
                </a:solidFill>
                <a:latin typeface="Calibri"/>
              </a:rPr>
              <a:t>Raissa Irutingabo  ·  github.com/IrutingaboRaissa/UMUBYEYI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