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9B8BC4"/>
                </a:solidFill>
                <a:latin typeface="Calibri" panose="020F0502020204030204"/>
              </a:rPr>
              <a:t>BSc Software Engineering Capstone — Progress Review</a:t>
            </a:r>
            <a:endParaRPr sz="1600" b="1" i="0">
              <a:solidFill>
                <a:srgbClr val="9B8BC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 panose="020F0502020204030204"/>
              </a:rPr>
              <a:t>Umubyeyi</a:t>
            </a:r>
            <a:endParaRPr sz="5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Calibri" panose="020F0502020204030204"/>
              </a:rPr>
              <a:t>A Kinyarwanda-Language AI Chatbot for Maternal Mental Wellness in the Postpartum Window</a:t>
            </a:r>
            <a:endParaRPr sz="2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Raissa Irutingabo  ·  African Leadership University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  <a:p>
            <a:r>
              <a:rPr sz="1500" b="0" i="0">
                <a:solidFill>
                  <a:srgbClr val="9B8BC4"/>
                </a:solidFill>
                <a:latin typeface="Calibri" panose="020F0502020204030204"/>
              </a:rPr>
              <a:t>Supervisor: Samiratu Ntohsi</a:t>
            </a:r>
            <a:endParaRPr sz="1500" b="0" i="0">
              <a:solidFill>
                <a:srgbClr val="9B8BC4"/>
              </a:solidFill>
              <a:latin typeface="Calibri" panose="020F0502020204030204"/>
            </a:endParaRPr>
          </a:p>
          <a:p>
            <a:r>
              <a:rPr sz="1500" b="0" i="0">
                <a:solidFill>
                  <a:srgbClr val="55576B"/>
                </a:solidFill>
                <a:latin typeface="Calibri" panose="020F0502020204030204"/>
              </a:rPr>
              <a:t>Progress presentation — June 2026</a:t>
            </a:r>
            <a:endParaRPr sz="1500" b="0" i="0">
              <a:solidFill>
                <a:srgbClr val="5557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AGENDA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Outline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5610"/>
            <a:ext cx="10058400" cy="3384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Introduction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The Need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Data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Data Preprocessing &amp; Exploration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The Approach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Results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Discussion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B2D42"/>
                </a:solidFill>
                <a:latin typeface="Calibri" panose="020F0502020204030204"/>
              </a:rPr>
              <a:t>•  Conclusions &amp; Next Steps</a:t>
            </a:r>
            <a:endParaRPr sz="18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INTRODUCTION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What is Umubyeyi?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675120" cy="23844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•  A browser-based chatbot that talks to first-time Rwandan mothers in Kinyarwanda about their mental wellbeing.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•  Scope: the 0–6 month postpartum window 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•  Informational and supportive</a:t>
            </a:r>
            <a:r>
              <a:rPr lang="en-US" sz="1700" b="1" i="0">
                <a:solidFill>
                  <a:srgbClr val="2B2D42"/>
                </a:solidFill>
                <a:latin typeface="Calibri" panose="020F0502020204030204"/>
              </a:rPr>
              <a:t> </a:t>
            </a: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never diagnostic. Every reply carries a disclaimer and a safety pathway.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•  Template-based, not generative: each intent maps to one guideline-sourced, human-reviewed response template (avoids LLM hallucination).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79" y="1920240"/>
            <a:ext cx="4114800" cy="402336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14884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E76F51"/>
                </a:solidFill>
                <a:latin typeface="Calibri" panose="020F0502020204030204"/>
              </a:rPr>
              <a:t>In one sentence</a:t>
            </a:r>
            <a:endParaRPr sz="1400" b="1" i="0">
              <a:solidFill>
                <a:srgbClr val="E76F51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i="1">
                <a:solidFill>
                  <a:srgbClr val="2B2D42"/>
                </a:solidFill>
                <a:latin typeface="Calibri" panose="020F0502020204030204"/>
              </a:rPr>
              <a:t>“Meet mothers in their own language, route them to safe, expert-validated guidance, and measure exactly what translation costs us along the way.”</a:t>
            </a:r>
            <a:endParaRPr sz="1600" b="0" i="1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THE NEED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Why this matters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515600" cy="2122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•  Perinatal mental-health conditions are common and under-served in sub-Saharan Africa, yet rarely screened in routine postpartum care.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•  First-time mothers face the steepest adjustment, often in isolation and without a safe, private place to ask questions.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•  Language is the barrier: almost all digital maternal-health tools are English-only.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2B2D42"/>
                </a:solidFill>
                <a:latin typeface="Calibri" panose="020F0502020204030204"/>
              </a:rPr>
              <a:t>.</a:t>
            </a:r>
            <a:endParaRPr sz="17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0515600" cy="6400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The gap = Kinyarwanda  ×  mental wellness  ×  Rwanda  —  exactly where Umubyeyi sits.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DATA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Three data sources, three distinct roles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611880" cy="402336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611880" cy="50292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333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TRAINING DATA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Amod counseling Q&amp;A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246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3,512 rows of real therapist Q&amp;A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995 unique questions (heavy duplication)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Filtered to maternal-relevant subset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Labeled into 6 wellness intents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11880" cy="402336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611880" cy="502920"/>
          </a:xfrm>
          <a:prstGeom prst="rect">
            <a:avLst/>
          </a:prstGeom>
          <a:solidFill>
            <a:srgbClr val="9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56232"/>
            <a:ext cx="333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FRAMING / LIT REVIEW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MOTHER dataset (Uganda)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3154680"/>
            <a:ext cx="3246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503 maternal-health Q&amp;A, CC BY 4.0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English-only, physical health only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Cited to frame the research gap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NOT used for training or the KB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92440" y="1828800"/>
            <a:ext cx="3611880" cy="402336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28800"/>
            <a:ext cx="3611880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56232"/>
            <a:ext cx="333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RESPONSE TEMPLATES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WHO / UNFPA guidance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75320" y="3154680"/>
            <a:ext cx="3246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Tier-1 global authorities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Source of every user-facing answer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Pre-translated + human-reviewed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•  6 response templates (1 per intent)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DATA PREPROCESSING &amp; EXPLORATION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What the data told us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5778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2B2D42"/>
                </a:solidFill>
                <a:latin typeface="Calibri" panose="020F0502020204030204"/>
              </a:rPr>
              <a:t>•  Deduplication finding: 3,512 rows collapse to 995 unique questions — 2,517 are the same question answered by different counselors.</a:t>
            </a:r>
            <a:endParaRPr sz="15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2B2D42"/>
                </a:solidFill>
                <a:latin typeface="Calibri" panose="020F0502020204030204"/>
              </a:rPr>
              <a:t>•  Consequence: split on unique questions (GroupShuffleSplit) to avoid leakage and inflated accuracy.</a:t>
            </a:r>
            <a:endParaRPr sz="15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2B2D42"/>
                </a:solidFill>
                <a:latin typeface="Calibri" panose="020F0502020204030204"/>
              </a:rPr>
              <a:t>•  Intents are imbalanced — relationship/support dominates, self-care is scarce.</a:t>
            </a:r>
            <a:endParaRPr sz="1500" b="1" i="0">
              <a:solidFill>
                <a:srgbClr val="2B2D42"/>
              </a:solidFill>
              <a:latin typeface="Calibri" panose="020F0502020204030204"/>
            </a:endParaRPr>
          </a:p>
          <a:p>
            <a:pPr lvl="1">
              <a:spcBef>
                <a:spcPts val="200"/>
              </a:spcBef>
              <a:spcAft>
                <a:spcPts val="1000"/>
              </a:spcAft>
            </a:pPr>
            <a:r>
              <a:rPr sz="1300" b="0" i="0">
                <a:solidFill>
                  <a:srgbClr val="55576B"/>
                </a:solidFill>
                <a:latin typeface="Calibri" panose="020F0502020204030204"/>
              </a:rPr>
              <a:t>    –  This is why we report F1, not just accuracy.</a:t>
            </a:r>
            <a:endParaRPr sz="13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2B2D42"/>
                </a:solidFill>
                <a:latin typeface="Calibri" panose="020F0502020204030204"/>
              </a:rPr>
              <a:t>•  Cleaning: scope filtering, lowercasing, TF-IDF features.</a:t>
            </a:r>
            <a:endParaRPr sz="1500" b="1" i="0">
              <a:solidFill>
                <a:srgbClr val="2B2D42"/>
              </a:solidFill>
              <a:latin typeface="Calibri" panose="020F0502020204030204"/>
            </a:endParaRPr>
          </a:p>
        </p:txBody>
      </p:sp>
      <p:pic>
        <p:nvPicPr>
          <p:cNvPr id="8" name="Picture 7" descr="02_intent_cover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20240"/>
            <a:ext cx="54864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89204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76B"/>
                </a:solidFill>
                <a:latin typeface="Calibri" panose="020F0502020204030204"/>
              </a:rPr>
              <a:t>Intent coverage across the maternal subset (class imbalance)</a:t>
            </a:r>
            <a:endParaRPr sz="1000" b="0" i="1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THE APPROACH (1/2)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The system pipeline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b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10972800" cy="2589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84090"/>
            <a:ext cx="10972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•  Kinyarwanda in → NLLB-200 translates to English → TF-IDF + ML classifier assigns 1 of 6 intents → return that intent's response template → translate back → display the Kinyarwanda response with a disclaimer.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•  Two safety gates: (1) confidence gate — low-confidence inputs fall back to general self-care; (2) danger-sign keywords bypass everything → Rwanda helpline escalation.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•  Deployment MVP built: architecture diagram, web mockup, a Streamlit app and a FastAPI sketch (Swagger UI for testing).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7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THE APPROACH (2/2)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5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000" b="1" i="0">
                <a:solidFill>
                  <a:srgbClr val="2B2D42"/>
                </a:solidFill>
                <a:latin typeface="Calibri" panose="020F0502020204030204"/>
              </a:rPr>
              <a:t>Project Implentation</a:t>
            </a:r>
            <a:endParaRPr lang="en-US"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55576B"/>
                </a:solidFill>
                <a:latin typeface="Calibri" panose="020F0502020204030204"/>
              </a:rPr>
              <a:t>Three classifiers on the SAME labels and SAME 80/20 split — each adds exactly one idea and must beat the one below it.</a:t>
            </a:r>
            <a:endParaRPr sz="1500" b="0" i="1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11155680" cy="114300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777240" cy="1143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7772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2240280"/>
            <a:ext cx="6766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TF-IDF + Logistic Regression   (English)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5576B"/>
                </a:solidFill>
                <a:latin typeface="Calibri" panose="020F0502020204030204"/>
              </a:rPr>
              <a:t>FLOOR — simple, fast, interpretable; the currently deployed path.</a:t>
            </a:r>
            <a:endParaRPr sz="1200" b="0" i="0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3154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A9988"/>
                </a:solidFill>
                <a:latin typeface="Calibri" panose="020F0502020204030204"/>
              </a:rPr>
              <a:t>Done · 0.61 acc / 0.60 F1</a:t>
            </a:r>
            <a:endParaRPr sz="1300" b="1" i="0">
              <a:solidFill>
                <a:srgbClr val="1A998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456432"/>
            <a:ext cx="11155680" cy="114300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56432"/>
            <a:ext cx="777240" cy="1143000"/>
          </a:xfrm>
          <a:prstGeom prst="rect">
            <a:avLst/>
          </a:prstGeom>
          <a:solidFill>
            <a:srgbClr val="9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7772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547872"/>
            <a:ext cx="6766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FastText cc.rw.300 + MLP   (Kinyarwanda)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5576B"/>
                </a:solidFill>
                <a:latin typeface="Calibri" panose="020F0502020204030204"/>
              </a:rPr>
              <a:t>EMBEDDINGS — dense subword vectors capture meaning + Kinyarwanda morphology / out-of-vocabulary words.</a:t>
            </a:r>
            <a:endParaRPr sz="1200" b="0" i="0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3882200"/>
            <a:ext cx="3154680" cy="2914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300" b="1">
                <a:solidFill>
                  <a:srgbClr val="E76F51"/>
                </a:solidFill>
                <a:latin typeface="Calibri" panose="020F0502020204030204"/>
                <a:sym typeface="+mn-ea"/>
              </a:rPr>
              <a:t>Pending</a:t>
            </a:r>
            <a:endParaRPr sz="1300" b="1" i="0">
              <a:solidFill>
                <a:srgbClr val="9B8BC4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4764024"/>
            <a:ext cx="11155680" cy="114300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64024"/>
            <a:ext cx="777240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64024"/>
            <a:ext cx="7772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08760" y="4855464"/>
            <a:ext cx="6766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AfroXLMR fine-tune   (Kinyarwanda)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5576B"/>
                </a:solidFill>
                <a:latin typeface="Calibri" panose="020F0502020204030204"/>
              </a:rPr>
              <a:t>CEILING — contextual transformer pretrained on Kinyarwanda; classifies directly, no translate-then-classify hop.</a:t>
            </a:r>
            <a:endParaRPr sz="1200" b="0" i="0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5189792"/>
            <a:ext cx="3154680" cy="2914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300" b="1" i="0">
                <a:solidFill>
                  <a:srgbClr val="E76F51"/>
                </a:solidFill>
                <a:latin typeface="Calibri" panose="020F0502020204030204"/>
              </a:rPr>
              <a:t>Pending</a:t>
            </a:r>
            <a:endParaRPr lang="en-US" sz="13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8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RESULTS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5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Baseline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seline_confu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852160" cy="48377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666586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76B"/>
                </a:solidFill>
                <a:latin typeface="Calibri" panose="020F0502020204030204"/>
              </a:rPr>
              <a:t>Confusion matrix — TF-IDF + Logistic Regression, 6 intents</a:t>
            </a:r>
            <a:endParaRPr sz="1000" b="0" i="1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5120" y="1783080"/>
            <a:ext cx="4983480" cy="416052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965960"/>
            <a:ext cx="4572000" cy="29229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Accuracy:  </a:t>
            </a:r>
            <a:r>
              <a:rPr sz="1400" b="1" i="0">
                <a:solidFill>
                  <a:srgbClr val="1A9988"/>
                </a:solidFill>
                <a:latin typeface="Calibri" panose="020F0502020204030204"/>
              </a:rPr>
              <a:t>0.61</a:t>
            </a:r>
            <a:endParaRPr sz="1400" b="1" i="0">
              <a:solidFill>
                <a:srgbClr val="1A9988"/>
              </a:solidFill>
              <a:latin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F1:  </a:t>
            </a:r>
            <a:r>
              <a:rPr sz="1400" b="1" i="0">
                <a:solidFill>
                  <a:srgbClr val="1A9988"/>
                </a:solidFill>
                <a:latin typeface="Calibri" panose="020F0502020204030204"/>
              </a:rPr>
              <a:t>0.60</a:t>
            </a:r>
            <a:endParaRPr sz="1400" b="1" i="0">
              <a:solidFill>
                <a:srgbClr val="1A9988"/>
              </a:solidFill>
              <a:latin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Precision:  </a:t>
            </a:r>
            <a:r>
              <a:rPr sz="1400" b="1" i="0">
                <a:solidFill>
                  <a:srgbClr val="1A9988"/>
                </a:solidFill>
                <a:latin typeface="Calibri" panose="020F0502020204030204"/>
              </a:rPr>
              <a:t>0.63</a:t>
            </a:r>
            <a:endParaRPr sz="1400" b="1" i="0">
              <a:solidFill>
                <a:srgbClr val="1A9988"/>
              </a:solidFill>
              <a:latin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Recall:  </a:t>
            </a:r>
            <a:r>
              <a:rPr sz="1400" b="1" i="0">
                <a:solidFill>
                  <a:srgbClr val="1A9988"/>
                </a:solidFill>
                <a:latin typeface="Calibri" panose="020F0502020204030204"/>
              </a:rPr>
              <a:t>0.59</a:t>
            </a:r>
            <a:endParaRPr sz="1400" b="1" i="0">
              <a:solidFill>
                <a:srgbClr val="1A9988"/>
              </a:solidFill>
              <a:latin typeface="Calibri" panose="020F0502020204030204"/>
            </a:endParaRP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E76F51"/>
                </a:solidFill>
                <a:latin typeface="Calibri" panose="020F0502020204030204"/>
              </a:rPr>
              <a:t>Reading the matrix</a:t>
            </a:r>
            <a:endParaRPr sz="1300" b="1" i="0">
              <a:solidFill>
                <a:srgbClr val="E76F51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5576B"/>
                </a:solidFill>
                <a:latin typeface="Calibri" panose="020F0502020204030204"/>
              </a:rPr>
              <a:t>•  Strong on relationship/support &amp; sleep (clear cues).</a:t>
            </a:r>
            <a:endParaRPr sz="12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5576B"/>
                </a:solidFill>
                <a:latin typeface="Calibri" panose="020F0502020204030204"/>
              </a:rPr>
              <a:t>•  Confusion: overwhelmed ↔ relationship &amp; sadness — overlapping language, the hard intents.</a:t>
            </a:r>
            <a:endParaRPr sz="12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5576B"/>
                </a:solidFill>
                <a:latin typeface="Calibri" panose="020F0502020204030204"/>
              </a:rPr>
              <a:t>•  F1 &lt; accuracy → the minority intents are where the work is.</a:t>
            </a:r>
            <a:endParaRPr sz="1200" b="0" i="0">
              <a:solidFill>
                <a:srgbClr val="55576B"/>
              </a:solidFill>
              <a:latin typeface="Calibri" panose="020F0502020204030204"/>
            </a:endParaRPr>
          </a:p>
          <a:p>
            <a:pPr>
              <a:spcBef>
                <a:spcPts val="1200"/>
              </a:spcBef>
            </a:pPr>
            <a:r>
              <a:rPr sz="1100" b="0" i="1">
                <a:solidFill>
                  <a:srgbClr val="55576B"/>
                </a:solidFill>
                <a:latin typeface="Calibri" panose="020F0502020204030204"/>
              </a:rPr>
              <a:t>Honest INITIAL baseline. Models 2 &amp; 3 (FastText, AfroXLMR) are coded and pending compute.</a:t>
            </a:r>
            <a:endParaRPr sz="1100" b="0" i="1">
              <a:solidFill>
                <a:srgbClr val="55576B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9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RESULTS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The core scientific contribution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400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2B2D42"/>
                </a:solidFill>
                <a:latin typeface="Calibri" panose="020F0502020204030204"/>
              </a:rPr>
              <a:t>•  Central research question: how much accuracy do we lose to translation?</a:t>
            </a:r>
            <a:endParaRPr sz="15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2B2D42"/>
                </a:solidFill>
                <a:latin typeface="Calibri" panose="020F0502020204030204"/>
              </a:rPr>
              <a:t>•  Method: classify the English test set directly vs. after an EN→Kinyarwanda→EN round-trip through NLLB-200 — the gap is the degradation coefficient.</a:t>
            </a:r>
            <a:endParaRPr sz="15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2B2D42"/>
                </a:solidFill>
                <a:latin typeface="Calibri" panose="020F0502020204030204"/>
              </a:rPr>
              <a:t>•  This would be the first published Kinyarwanda mental-wellness classification benchmark.</a:t>
            </a:r>
            <a:endParaRPr sz="15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3760" y="1828800"/>
            <a:ext cx="4480560" cy="402336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011680"/>
            <a:ext cx="40233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E76F51"/>
                </a:solidFill>
                <a:latin typeface="Calibri" panose="020F0502020204030204"/>
              </a:rPr>
              <a:t>Live demo finding</a:t>
            </a:r>
            <a:endParaRPr sz="1400" b="1" i="0">
              <a:solidFill>
                <a:srgbClr val="E76F51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200" b="1" i="0">
                <a:solidFill>
                  <a:srgbClr val="9B8BC4"/>
                </a:solidFill>
                <a:latin typeface="Calibri" panose="020F0502020204030204"/>
              </a:rPr>
              <a:t>Input (Kinyarwanda):</a:t>
            </a:r>
            <a:endParaRPr sz="1200" b="1" i="0">
              <a:solidFill>
                <a:srgbClr val="9B8BC4"/>
              </a:solidFill>
              <a:latin typeface="Calibri" panose="020F0502020204030204"/>
            </a:endParaRPr>
          </a:p>
          <a:p>
            <a:r>
              <a:rPr sz="1300" b="0" i="1">
                <a:solidFill>
                  <a:srgbClr val="FFFFFF"/>
                </a:solidFill>
                <a:latin typeface="Calibri" panose="020F0502020204030204"/>
              </a:rPr>
              <a:t>“umugabo wanjye ntamfasha”  (my husband does NOT help me)</a:t>
            </a:r>
            <a:endParaRPr sz="1300" b="0" i="1">
              <a:solidFill>
                <a:srgbClr val="FFFFFF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200" b="1" i="0">
                <a:solidFill>
                  <a:srgbClr val="9B8BC4"/>
                </a:solidFill>
                <a:latin typeface="Calibri" panose="020F0502020204030204"/>
              </a:rPr>
              <a:t>NLLB dropped the negation →</a:t>
            </a:r>
            <a:endParaRPr sz="1200" b="1" i="0">
              <a:solidFill>
                <a:srgbClr val="9B8BC4"/>
              </a:solidFill>
              <a:latin typeface="Calibri" panose="020F0502020204030204"/>
            </a:endParaRPr>
          </a:p>
          <a:p>
            <a:r>
              <a:rPr sz="1300" b="0" i="1">
                <a:solidFill>
                  <a:srgbClr val="FFFFFF"/>
                </a:solidFill>
                <a:latin typeface="Calibri" panose="020F0502020204030204"/>
              </a:rPr>
              <a:t>“my husband is helping me”  — meaning inverted</a:t>
            </a:r>
            <a:endParaRPr sz="1300" b="0" i="1">
              <a:solidFill>
                <a:srgbClr val="FFFFFF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Confidence fell to 0.31 → the safety gate caught it → safe fallback. Live proof of both the risk AND the mitigation.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10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DISCUSSION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Discussion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7899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•  Translation hallucination is the real risk — not classifier accuracy. Dropped negations can invert meaning.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•  The two-gate design (calibrated confidence + danger-sign override) turns that risk into a controlled, safe fallback rather than a wrong answer.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•  Open finding: the proposed fixed 0.40 confidence threshold abstains ~88% of the time — it needs empirical tuning, not assumption.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B2D42"/>
                </a:solidFill>
                <a:latin typeface="Calibri" panose="020F0502020204030204"/>
              </a:rPr>
              <a:t>•  “Strong ML” here = rigor + a genuinely novel measurement, not model size. Classical models are the right call for low-resource deployment.</a:t>
            </a:r>
            <a:endParaRPr sz="16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11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76F51"/>
                </a:solidFill>
                <a:latin typeface="Calibri" panose="020F0502020204030204"/>
              </a:rPr>
              <a:t>CONCLUSIONS</a:t>
            </a:r>
            <a:endParaRPr sz="12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2B2D42"/>
                </a:solidFill>
                <a:latin typeface="Calibri" panose="020F0502020204030204"/>
              </a:rPr>
              <a:t>Conclusions &amp; Next Steps</a:t>
            </a:r>
            <a:endParaRPr sz="30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28016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A9988"/>
                </a:solidFill>
                <a:latin typeface="Calibri" panose="020F0502020204030204"/>
              </a:rPr>
              <a:t>Where we are</a:t>
            </a:r>
            <a:endParaRPr sz="1600" b="1" i="0">
              <a:solidFill>
                <a:srgbClr val="1A998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486400" cy="12604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•  End-to-end Kinyarwanda pipeline works (NLLB + classifier + response templates + safety).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•  Floor baseline established: 0.61 acc / 0.60 F1 (Model 1).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E76F51"/>
                </a:solidFill>
                <a:latin typeface="Calibri" panose="020F0502020204030204"/>
              </a:rPr>
              <a:t>Next steps</a:t>
            </a:r>
            <a:endParaRPr sz="1600" b="1" i="0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486400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•  Measure the cross-lingual degradation coefficient.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2B2D42"/>
                </a:solidFill>
                <a:latin typeface="Calibri" panose="020F0502020204030204"/>
              </a:rPr>
              <a:t>•  AfroXLMR fine-tune as a comparison arm.</a:t>
            </a:r>
            <a:endParaRPr sz="1400" b="1" i="0">
              <a:solidFill>
                <a:srgbClr val="2B2D42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241800"/>
            <a:ext cx="11155680" cy="594360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120" y="424180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Contribution: the first Kinyarwanda maternal mental-wellness classifier + a quantified benchmark of what translation costs.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Umubyeyi  ·  Kinyarwanda Maternal Mental-Wellness Chatbot  ·  R. Irutingabo (ALU)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77295" y="6556248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 panose="020F0502020204030204"/>
              </a:rPr>
              <a:t>12</a:t>
            </a:r>
            <a:endParaRPr sz="9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768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 panose="020F0502020204030204"/>
              </a:rPr>
              <a:t>Murakoze  Thank you</a:t>
            </a:r>
            <a:endParaRPr sz="4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 i="0">
                <a:solidFill>
                  <a:srgbClr val="9B8BC4"/>
                </a:solidFill>
                <a:latin typeface="Calibri" panose="020F0502020204030204"/>
              </a:rPr>
              <a:t>Questions &amp; discussion</a:t>
            </a:r>
            <a:endParaRPr sz="2200" b="0" i="0">
              <a:solidFill>
                <a:srgbClr val="9B8BC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55576B"/>
                </a:solidFill>
                <a:latin typeface="Calibri" panose="020F0502020204030204"/>
              </a:rPr>
              <a:t>Raissa Irutingabo  ·  github.com/IrutingaboRaissa/UMUBYEYI</a:t>
            </a:r>
            <a:endParaRPr sz="1400" b="0" i="0">
              <a:solidFill>
                <a:srgbClr val="5557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6752</Words>
  <Application>WPS Presentation</Application>
  <PresentationFormat>On-screen Show (4:3)</PresentationFormat>
  <Paragraphs>231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pc</cp:lastModifiedBy>
  <cp:revision>2</cp:revision>
  <dcterms:created xsi:type="dcterms:W3CDTF">2013-01-27T09:14:00Z</dcterms:created>
  <dcterms:modified xsi:type="dcterms:W3CDTF">2026-06-13T10:12:09Z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3E370EE108A04E7F8E46B2A6FF8C0A71_12</vt:lpwstr>
  </property>
  <property fmtid="{D5CDD505-2E9C-101B-9397-08002B2CF9AE}" pid="3" name="KSOProductBuildVer">
    <vt:lpwstr>1033-12.1.0.26880</vt:lpwstr>
  </property>
</Properties>
</file>